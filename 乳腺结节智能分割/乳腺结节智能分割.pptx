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600" b="1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BUSI 三类样本分布（共 780 张）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样本数</c:v>
                </c:pt>
              </c:strCache>
            </c:strRef>
          </c:tx>
          <c:dPt>
            <c:idx val="0"/>
            <c:spPr>
              <a:solidFill>
                <a:srgbClr val="1E4FA8"/>
              </a:solidFill>
            </c:spPr>
          </c:dPt>
          <c:dPt>
            <c:idx val="1"/>
            <c:spPr>
              <a:solidFill>
                <a:srgbClr val="D9534F"/>
              </a:solidFill>
            </c:spPr>
          </c:dPt>
          <c:dPt>
            <c:idx val="2"/>
            <c:spPr>
              <a:solidFill>
                <a:srgbClr val="8B97A8"/>
              </a:solidFill>
            </c:spPr>
          </c:dPt>
          <c:cat>
            <c:strRef>
              <c:f>Sheet1!$A$2:$A$4</c:f>
              <c:strCache>
                <c:ptCount val="3"/>
                <c:pt idx="0">
                  <c:v>良性 benign</c:v>
                </c:pt>
                <c:pt idx="1">
                  <c:v>恶性 malignant</c:v>
                </c:pt>
                <c:pt idx="2">
                  <c:v>正常 normal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437</c:v>
                </c:pt>
                <c:pt idx="1">
                  <c:v>210</c:v>
                </c:pt>
                <c:pt idx="2">
                  <c:v>133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3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ultras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85F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914400"/>
            <a:ext cx="3143250" cy="38100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90600"/>
            <a:ext cx="31432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深度学习与医学影像 · 课程教学课件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477500" cy="1047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乳腺结节智能分割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1300"/>
            <a:ext cx="104775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1">
                <a:solidFill>
                  <a:srgbClr val="E8EFF8"/>
                </a:solidFill>
                <a:latin typeface="Georgia"/>
                <a:ea typeface="Georgia"/>
                <a:cs typeface="Georgia"/>
              </a:rPr>
              <a:t>Intelligent Segmentation of Breast Lesions in Ultrasound Images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76600"/>
            <a:ext cx="1047750" cy="381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43300"/>
            <a:ext cx="1000125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U-Net 与 U-Net++ 的网络结构讲解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24300"/>
            <a:ext cx="100012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与两个网络在 BUSI 数据集上的性能对比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rgbClr val="0A285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64389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主讲：肖雄涛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2500" y="6438900"/>
            <a:ext cx="65722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600" b="0" i="0">
                <a:solidFill>
                  <a:srgbClr val="E8EFF8"/>
                </a:solidFill>
                <a:latin typeface="微软雅黑"/>
                <a:ea typeface="微软雅黑"/>
                <a:cs typeface="微软雅黑"/>
              </a:rPr>
              <a:t>基于 BUSI 乳腺超声数据集（780 例） · 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38500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428750"/>
            <a:ext cx="24003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5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2247900"/>
            <a:ext cx="24003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9FB6DE"/>
                </a:solidFill>
                <a:latin typeface="微软雅黑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9100" y="2647950"/>
            <a:ext cx="533400" cy="381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9100" y="2952750"/>
            <a:ext cx="238125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C9D7EE"/>
                </a:solidFill>
                <a:latin typeface="微软雅黑"/>
                <a:ea typeface="微软雅黑"/>
                <a:cs typeface="微软雅黑"/>
              </a:rPr>
              <a:t>四个章节，一条主线：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C9D7EE"/>
                </a:solidFill>
                <a:latin typeface="微软雅黑"/>
                <a:ea typeface="微软雅黑"/>
                <a:cs typeface="微软雅黑"/>
              </a:rPr>
              <a:t>同一个任务，两个网络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6286500"/>
            <a:ext cx="24003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FB6DE"/>
                </a:solidFill>
                <a:latin typeface="微软雅黑"/>
                <a:ea typeface="微软雅黑"/>
                <a:cs typeface="微软雅黑"/>
              </a:rPr>
              <a:t>乳腺结节智能分割 · 教学课件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0" y="1028700"/>
            <a:ext cx="7810500" cy="11239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57650" y="1285875"/>
            <a:ext cx="609600" cy="609600"/>
          </a:xfrm>
          <a:prstGeom prst="roundRect">
            <a:avLst>
              <a:gd name="adj" fmla="val 15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57650" y="1428750"/>
            <a:ext cx="6096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5850" y="1257300"/>
            <a:ext cx="647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300" b="1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任务与数据：从临床问题到 BUSI 数据集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5850" y="1638300"/>
            <a:ext cx="6477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为什么必须是像素级分割 · 780 例数据与预处理流水线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10000" y="2381250"/>
            <a:ext cx="7810500" cy="11239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57650" y="2638425"/>
            <a:ext cx="609600" cy="609600"/>
          </a:xfrm>
          <a:prstGeom prst="roundRect">
            <a:avLst>
              <a:gd name="adj" fmla="val 15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57650" y="2781300"/>
            <a:ext cx="6096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5850" y="2609850"/>
            <a:ext cx="647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300" b="1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分割网络：U-Net 与 U-Net++ 结构详解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5850" y="2990850"/>
            <a:ext cx="6477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编解码通用范式与五大模块 · U-Net 跳跃连接 · U-Net++ 嵌套密集连接与深度监督 · 两网络结构对比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10000" y="3733800"/>
            <a:ext cx="7810500" cy="112395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057650" y="3990975"/>
            <a:ext cx="609600" cy="609600"/>
          </a:xfrm>
          <a:prstGeom prst="roundRect">
            <a:avLst>
              <a:gd name="adj" fmla="val 15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57650" y="4133850"/>
            <a:ext cx="6096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5850" y="3962400"/>
            <a:ext cx="647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300" b="1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损失函数与评价指标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5850" y="4343400"/>
            <a:ext cx="6477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BCE + Dice 为什么更适配不平衡数据 · 混淆矩阵、Dice 与 IoU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0" y="5086350"/>
            <a:ext cx="7810500" cy="11239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57650" y="5343525"/>
            <a:ext cx="609600" cy="609600"/>
          </a:xfrm>
          <a:prstGeom prst="roundRect">
            <a:avLst>
              <a:gd name="adj" fmla="val 15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57650" y="5486400"/>
            <a:ext cx="6096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5850" y="5314950"/>
            <a:ext cx="647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300" b="1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实验与实操：真实结果对比与课内任务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5850" y="5695950"/>
            <a:ext cx="6477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公平实验设置 · U-Net vs U-Net++ 实测 Dice 0.738 / 0.747 · 分组动手任务书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38500" y="6381750"/>
            <a:ext cx="8953500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38500" y="6381750"/>
            <a:ext cx="89535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58500" y="6534150"/>
            <a:ext cx="1143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8650" y="285750"/>
            <a:ext cx="4762500" cy="323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5000" b="1" i="0">
                <a:solidFill>
                  <a:srgbClr val="DCE6F5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991100" y="2057400"/>
            <a:ext cx="95250" cy="4191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57800" y="2076450"/>
            <a:ext cx="62865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PART 01 · TASK &amp;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2457450"/>
            <a:ext cx="64770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42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任务与数据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3200400"/>
            <a:ext cx="628650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从乳腺超声筛查的临床痛点出发，明确像素级分割的任务定义与临床价值，并认识本项目使用的 BUSI 数据集与其预处理流水线。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4629150"/>
            <a:ext cx="895350" cy="4000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4714875"/>
            <a:ext cx="8953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临床问题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7450" y="4629150"/>
            <a:ext cx="895350" cy="4000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7450" y="4714875"/>
            <a:ext cx="8953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任务定义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7100" y="4629150"/>
            <a:ext cx="1466850" cy="4000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77100" y="4714875"/>
            <a:ext cx="14668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BUSI 数据集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58250" y="4629150"/>
            <a:ext cx="895350" cy="4000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58250" y="4714875"/>
            <a:ext cx="8953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数据增强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1000" y="653415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乳腺结节智能分割 · 教学课件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500" y="6534150"/>
            <a:ext cx="1333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4765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临床问题与任务定义：为什么需要像素级分割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15500" y="323850"/>
            <a:ext cx="20955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0" y="38100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01 任务与数据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653415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乳腺结节智能分割 · 教学课件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34150"/>
            <a:ext cx="1333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04 /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1047750"/>
            <a:ext cx="6286500" cy="35242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alignant_pa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00150"/>
            <a:ext cx="5981700" cy="29241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42100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malignant (5) 原图：边界模糊、形态不规则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6150" y="4210050"/>
            <a:ext cx="302895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400" b="0" i="0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医师标注 GT mask（红色叠加）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4724400"/>
            <a:ext cx="6286500" cy="144780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4914900"/>
            <a:ext cx="5829300" cy="1104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同一张图，医师给出的是</a:t>
            </a:r>
            <a:r>
              <a:rPr sz="17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逐像素的病灶轮廓</a:t>
            </a:r>
            <a:r>
              <a:rPr sz="170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，而不是一个矩形框——边界模糊、毛刺状的恶性病灶，矩形框无法刻画其真实形态。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96100" y="1047750"/>
            <a:ext cx="4914900" cy="14097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86600" y="1257300"/>
            <a:ext cx="342900" cy="34290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1314450"/>
            <a:ext cx="3429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850" y="1295400"/>
            <a:ext cx="40005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临床痛点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1695450"/>
            <a:ext cx="45339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乳腺超声是筛查一线手段，但良恶性结节的灰度表现重叠，人工勾画轮廓耗时且观察者间差异大。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96100" y="2590800"/>
            <a:ext cx="4914900" cy="14097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86600" y="2800350"/>
            <a:ext cx="342900" cy="34290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2857500"/>
            <a:ext cx="3429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2850" y="2838450"/>
            <a:ext cx="40005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任务定义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238500"/>
            <a:ext cx="45339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语义分割 = 对每个像素做二分类（病灶 / 背景），输出与原图等大小的概率图，阈值化后得到 mask。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96100" y="4133850"/>
            <a:ext cx="4914900" cy="14097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86600" y="4343400"/>
            <a:ext cx="342900" cy="34290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4400550"/>
            <a:ext cx="3429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2850" y="4381500"/>
            <a:ext cx="40005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临床价值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781550"/>
            <a:ext cx="45339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精确轮廓支撑病灶体积测量、形态学特征（毛刺、纵横比）量化与 BI-RADS 分级辅助。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96100" y="5638800"/>
            <a:ext cx="4914900" cy="628650"/>
          </a:xfrm>
          <a:prstGeom prst="roundRect">
            <a:avLst>
              <a:gd name="adj" fmla="val 8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5715000"/>
            <a:ext cx="455295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本课主线：同一个任务、同一份数据与同一套训练设置，只换网络结构——看 U-Net 与 U-Net++ 究竟差在哪。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4765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BUSI 数据集：780 例乳腺超声与像素级标注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15500" y="323850"/>
            <a:ext cx="20955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0" y="38100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01 任务与数据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653415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乳腺结节智能分割 · 教学课件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34150"/>
            <a:ext cx="1333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05 /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1066800"/>
            <a:ext cx="4476750" cy="1047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200" b="1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780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2266950"/>
            <a:ext cx="44767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张乳腺超声图像（含医师标注 mask）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1000" y="2819400"/>
            <a:ext cx="1390650" cy="8001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000" y="2914650"/>
            <a:ext cx="13906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437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3314700"/>
            <a:ext cx="139065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良性 benign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4050" y="2819400"/>
            <a:ext cx="1390650" cy="8001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4050" y="2914650"/>
            <a:ext cx="13906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210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4050" y="3314700"/>
            <a:ext cx="139065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恶性 malignant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67100" y="2819400"/>
            <a:ext cx="1390650" cy="8001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67100" y="2914650"/>
            <a:ext cx="13906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133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7100" y="3314700"/>
            <a:ext cx="139065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正常 normal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3771900"/>
            <a:ext cx="4476750" cy="169545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3943350"/>
            <a:ext cx="4038600" cy="142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数据来源：Al-Dhabyani et al., </a:t>
            </a:r>
            <a:r>
              <a:rPr sz="1500" b="0" i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Data in Brief</a:t>
            </a:r>
            <a:r>
              <a:rPr sz="150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, 2020。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良 / 恶图像均带 _mask.png 像素级真值；normal 无病灶，训练中自动生成全 0 mask。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43500" y="1047750"/>
            <a:ext cx="6667500" cy="38862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5334000" y="1181100"/>
          <a:ext cx="6286500" cy="3619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5143500" y="5086350"/>
            <a:ext cx="6667500" cy="1181100"/>
          </a:xfrm>
          <a:prstGeom prst="roundRect">
            <a:avLst>
              <a:gd name="adj" fmla="val 8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72100" y="5238750"/>
            <a:ext cx="62103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关键判断：病灶像素通常只占整图的极小部分，像素准确率会"虚高"到 95% 以上——因此本项目全程以 </a:t>
            </a:r>
            <a:r>
              <a:rPr sz="1600" b="1" i="0">
                <a:solidFill>
                  <a:srgbClr val="FFC107"/>
                </a:solidFill>
                <a:latin typeface="微软雅黑"/>
                <a:ea typeface="微软雅黑"/>
                <a:cs typeface="微软雅黑"/>
              </a:rPr>
              <a:t>Dice / IoU</a:t>
            </a: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作为模型选择与对比的核心指标。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4765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数据处理流水线：从原始图像到 DataLoader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15500" y="323850"/>
            <a:ext cx="20955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0" y="38100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01 任务与数据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653415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乳腺结节智能分割 · 教学课件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34150"/>
            <a:ext cx="1333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06 /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1066800"/>
            <a:ext cx="11430000" cy="21907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1500" y="1504950"/>
            <a:ext cx="1771650" cy="1028700"/>
          </a:xfrm>
          <a:prstGeom prst="roundRect">
            <a:avLst>
              <a:gd name="adj" fmla="val 1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1695450"/>
            <a:ext cx="177165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图像 + mask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" y="2019300"/>
            <a:ext cx="165735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CE6F5"/>
                </a:solidFill>
                <a:latin typeface="微软雅黑"/>
                <a:ea typeface="微软雅黑"/>
                <a:cs typeface="微软雅黑"/>
              </a:rPr>
              <a:t>原图与 _mask.png 成对读取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419350" y="1905000"/>
            <a:ext cx="228600" cy="20955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24150" y="1504950"/>
            <a:ext cx="1771650" cy="1028700"/>
          </a:xfrm>
          <a:prstGeom prst="roundRect">
            <a:avLst>
              <a:gd name="adj" fmla="val 10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150" y="1695450"/>
            <a:ext cx="177165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1300" y="2019300"/>
            <a:ext cx="165735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CE6F5"/>
                </a:solidFill>
                <a:latin typeface="微软雅黑"/>
                <a:ea typeface="微软雅黑"/>
                <a:cs typeface="微软雅黑"/>
              </a:rPr>
              <a:t>统一缩放 256×256 归一化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572000" y="1905000"/>
            <a:ext cx="228600" cy="20955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76800" y="1504950"/>
            <a:ext cx="1771650" cy="1028700"/>
          </a:xfrm>
          <a:prstGeom prst="roundRect">
            <a:avLst>
              <a:gd name="adj" fmla="val 10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800" y="1695450"/>
            <a:ext cx="177165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数据增强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3950" y="2019300"/>
            <a:ext cx="165735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CE6F5"/>
                </a:solidFill>
                <a:latin typeface="微软雅黑"/>
                <a:ea typeface="微软雅黑"/>
                <a:cs typeface="微软雅黑"/>
              </a:rPr>
              <a:t>水平翻转 / 旋转 / 亮度扰动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724650" y="1905000"/>
            <a:ext cx="228600" cy="20955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29450" y="1504950"/>
            <a:ext cx="1771650" cy="1028700"/>
          </a:xfrm>
          <a:prstGeom prst="roundRect">
            <a:avLst>
              <a:gd name="adj" fmla="val 1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29450" y="1695450"/>
            <a:ext cx="177165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分层划分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019300"/>
            <a:ext cx="165735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CE6F5"/>
                </a:solidFill>
                <a:latin typeface="微软雅黑"/>
                <a:ea typeface="微软雅黑"/>
                <a:cs typeface="微软雅黑"/>
              </a:rPr>
              <a:t>按类别 70% / 15% / 15%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77300" y="1905000"/>
            <a:ext cx="228600" cy="20955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82100" y="1504950"/>
            <a:ext cx="1771650" cy="1028700"/>
          </a:xfrm>
          <a:prstGeom prst="roundRect">
            <a:avLst>
              <a:gd name="adj" fmla="val 10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2100" y="1695450"/>
            <a:ext cx="177165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DataLoader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9250" y="2019300"/>
            <a:ext cx="165735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CE6F5"/>
                </a:solidFill>
                <a:latin typeface="微软雅黑"/>
                <a:ea typeface="微软雅黑"/>
                <a:cs typeface="微软雅黑"/>
              </a:rPr>
              <a:t>batch = 8 随机打乱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" y="3486150"/>
            <a:ext cx="5619750" cy="27813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600" y="3695700"/>
            <a:ext cx="51625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为什么统一 256×256？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4095750"/>
            <a:ext cx="5162550" cy="142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6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BUSI 原图尺寸不一，编码-解码结构要求固定输入。分辨率取 256 在保留病灶纹理与显存开销之间取得平衡，mask 同步最近邻插值以保持 0/1 标签。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600" y="5676900"/>
            <a:ext cx="3048000" cy="381000"/>
          </a:xfrm>
          <a:prstGeom prst="roundRect">
            <a:avLst>
              <a:gd name="adj" fmla="val 2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600" y="5772150"/>
            <a:ext cx="3048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配置项：config.img_size = 256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1250" y="3486150"/>
            <a:ext cx="5619750" cy="27813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850" y="3695700"/>
            <a:ext cx="51625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为什么必须分层划分？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850" y="4095750"/>
            <a:ext cx="5162550" cy="142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6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三类样本比例约 437 : 210 : 133，若随机打乱，测试集可能良恶性分布失衡。按类别分层抽样保证每个子集分布一致，指标才可比、可复现（seed = 42）。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19850" y="5676900"/>
            <a:ext cx="3048000" cy="381000"/>
          </a:xfrm>
          <a:prstGeom prst="roundRect">
            <a:avLst>
              <a:gd name="adj" fmla="val 2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850" y="5772150"/>
            <a:ext cx="3048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训练 / 验证 / 测试 = 70 / 15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8650" y="285750"/>
            <a:ext cx="4762500" cy="323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5000" b="1" i="0">
                <a:solidFill>
                  <a:srgbClr val="DCE6F5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991100" y="2057400"/>
            <a:ext cx="95250" cy="4191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57800" y="2076450"/>
            <a:ext cx="62865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PART 02 · SEGMENTATION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2457450"/>
            <a:ext cx="64770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42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分割网络的结构与对比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3200400"/>
            <a:ext cx="628650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医学图像分割的基石是如何工作的：编码-解码结构为什么能同时保住"看得懂"的语义与"画得准"的细节，以及 U-Net++ 在 U-Net 之上做了哪些针对性改良。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4629150"/>
            <a:ext cx="895350" cy="4000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4714875"/>
            <a:ext cx="8953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通用范式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7450" y="4629150"/>
            <a:ext cx="895350" cy="4000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7450" y="4714875"/>
            <a:ext cx="8953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核心模块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7100" y="4629150"/>
            <a:ext cx="1466850" cy="4000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77100" y="4714875"/>
            <a:ext cx="14668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U-Net 结构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58250" y="4629150"/>
            <a:ext cx="1752600" cy="4000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58250" y="4714875"/>
            <a:ext cx="17526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U-Net++ 结构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150" y="4629150"/>
            <a:ext cx="1038225" cy="4000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25150" y="4714875"/>
            <a:ext cx="1038225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两网络对比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000" y="653415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乳腺结节智能分割 · 教学课件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0" y="6534150"/>
            <a:ext cx="1333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4765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分割网络的通用范式：编码器 → 瓶颈 → 解码器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15500" y="323850"/>
            <a:ext cx="20955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0" y="38100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02 分割网络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653415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乳腺结节智能分割 · 教学课件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34150"/>
            <a:ext cx="1333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08 /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990600"/>
            <a:ext cx="11430000" cy="31432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1104900"/>
            <a:ext cx="11430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方块高度 = 特征图空间分辨率（越高越细）；方块颜色 = 语义抽象程度（越深越抽象）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05000" y="1466850"/>
            <a:ext cx="742950" cy="1866900"/>
          </a:xfrm>
          <a:prstGeom prst="roundRect">
            <a:avLst>
              <a:gd name="adj" fmla="val 8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05000" y="2266950"/>
            <a:ext cx="7429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32ch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850" y="3314700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256²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19400" y="1619250"/>
            <a:ext cx="742950" cy="1562100"/>
          </a:xfrm>
          <a:prstGeom prst="roundRect">
            <a:avLst>
              <a:gd name="adj" fmla="val 8000"/>
            </a:avLst>
          </a:prstGeom>
          <a:solidFill>
            <a:srgbClr val="2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19400" y="2266950"/>
            <a:ext cx="7429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64ch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2250" y="3314700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128²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33800" y="1771650"/>
            <a:ext cx="742950" cy="1257300"/>
          </a:xfrm>
          <a:prstGeom prst="roundRect">
            <a:avLst>
              <a:gd name="adj" fmla="val 8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3800" y="2266950"/>
            <a:ext cx="7429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128ch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6650" y="3314700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64²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48200" y="1924050"/>
            <a:ext cx="742950" cy="952500"/>
          </a:xfrm>
          <a:prstGeom prst="roundRect">
            <a:avLst>
              <a:gd name="adj" fmla="val 8000"/>
            </a:avLst>
          </a:prstGeom>
          <a:solidFill>
            <a:srgbClr val="6C9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8200" y="2266950"/>
            <a:ext cx="7429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256ch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1050" y="3314700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32²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62600" y="2076450"/>
            <a:ext cx="742950" cy="647700"/>
          </a:xfrm>
          <a:prstGeom prst="roundRect">
            <a:avLst>
              <a:gd name="adj" fmla="val 8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62600" y="2266950"/>
            <a:ext cx="7429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512ch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5450" y="3314700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16²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7000" y="1466850"/>
            <a:ext cx="742950" cy="1866900"/>
          </a:xfrm>
          <a:prstGeom prst="roundRect">
            <a:avLst>
              <a:gd name="adj" fmla="val 8000"/>
            </a:avLst>
          </a:prstGeom>
          <a:solidFill>
            <a:srgbClr val="6C9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7000" y="2266950"/>
            <a:ext cx="7429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256ch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850" y="3314700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256²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91400" y="1619250"/>
            <a:ext cx="742950" cy="1562100"/>
          </a:xfrm>
          <a:prstGeom prst="roundRect">
            <a:avLst>
              <a:gd name="adj" fmla="val 8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91400" y="2266950"/>
            <a:ext cx="7429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128ch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4250" y="3314700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128²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05800" y="1771650"/>
            <a:ext cx="742950" cy="1257300"/>
          </a:xfrm>
          <a:prstGeom prst="roundRect">
            <a:avLst>
              <a:gd name="adj" fmla="val 8000"/>
            </a:avLst>
          </a:prstGeom>
          <a:solidFill>
            <a:srgbClr val="2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2266950"/>
            <a:ext cx="7429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64ch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8650" y="3314700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64²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20200" y="1924050"/>
            <a:ext cx="742950" cy="952500"/>
          </a:xfrm>
          <a:prstGeom prst="roundRect">
            <a:avLst>
              <a:gd name="adj" fmla="val 8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20200" y="2266950"/>
            <a:ext cx="7429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32ch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3050" y="3314700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32²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6750" y="1476375"/>
            <a:ext cx="1047750" cy="18478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D7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6750" y="2228850"/>
            <a:ext cx="10477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0000"/>
              </a:lnSpc>
            </a:pPr>
            <a:r>
              <a:rPr sz="13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超声图像</a:t>
            </a:r>
          </a:p>
          <a:p>
            <a:pPr algn="ctr">
              <a:lnSpc>
                <a:spcPct val="140000"/>
              </a:lnSpc>
            </a:pPr>
            <a:r>
              <a:rPr sz="13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3 通道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53650" y="1476375"/>
            <a:ext cx="1047750" cy="18478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53650" y="2228850"/>
            <a:ext cx="10477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0000"/>
              </a:lnSpc>
            </a:pPr>
            <a:r>
              <a:rPr sz="13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概率图</a:t>
            </a:r>
          </a:p>
          <a:p>
            <a:pPr algn="ctr">
              <a:lnSpc>
                <a:spcPct val="140000"/>
              </a:lnSpc>
            </a:pPr>
            <a:r>
              <a:rPr sz="13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1 通道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276475" y="1343025"/>
            <a:ext cx="7315200" cy="0"/>
          </a:xfrm>
          <a:prstGeom prst="line">
            <a:avLst/>
          </a:prstGeom>
          <a:ln w="25400">
            <a:solidFill>
              <a:srgbClr val="D9534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190875" y="1343025"/>
            <a:ext cx="5486400" cy="0"/>
          </a:xfrm>
          <a:prstGeom prst="line">
            <a:avLst/>
          </a:prstGeom>
          <a:ln w="25400">
            <a:solidFill>
              <a:srgbClr val="D9534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105275" y="1343025"/>
            <a:ext cx="3657600" cy="0"/>
          </a:xfrm>
          <a:prstGeom prst="line">
            <a:avLst/>
          </a:prstGeom>
          <a:ln w="25400">
            <a:solidFill>
              <a:srgbClr val="D9534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019675" y="1343025"/>
            <a:ext cx="1828800" cy="0"/>
          </a:xfrm>
          <a:prstGeom prst="line">
            <a:avLst/>
          </a:prstGeom>
          <a:ln w="25400">
            <a:solidFill>
              <a:srgbClr val="D9534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905000" y="3600450"/>
            <a:ext cx="9144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红色虚线 = 跳跃连接：把编码器同分辨率的浅层细节旁路送到解码器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1000" y="4305300"/>
            <a:ext cx="3676650" cy="19621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71500" y="4476750"/>
            <a:ext cx="323850" cy="3238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1500" y="4533900"/>
            <a:ext cx="32385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9650" y="45148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编码器：为什么要压缩？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1500" y="4914900"/>
            <a:ext cx="329565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卷积 + 池化逐级下采样，通道翻倍、分辨率减半——用空间精度换语义抽象，让每个像素位置的感受野覆盖足够的上下文来判断"这里是不是病灶"。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57675" y="4305300"/>
            <a:ext cx="3676650" cy="19621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448175" y="4476750"/>
            <a:ext cx="323850" cy="3238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48175" y="4533900"/>
            <a:ext cx="32385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86325" y="45148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解码器：为什么要还原？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48175" y="4914900"/>
            <a:ext cx="329565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上采样逐级恢复到输入分辨率，通道对称减半，最后 1×1 卷积 + Sigmoid 得到逐像素概率图——把"看懂了什么"翻译回"哪几个像素属于病灶"。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34350" y="4305300"/>
            <a:ext cx="3676650" cy="196215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324850" y="4476750"/>
            <a:ext cx="323850" cy="323850"/>
          </a:xfrm>
          <a:prstGeom prst="roundRect">
            <a:avLst>
              <a:gd name="adj" fmla="val 20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4850" y="4533900"/>
            <a:ext cx="32385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63000" y="45148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为什么必须有跳跃连接？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4850" y="4914900"/>
            <a:ext cx="329565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池化下采样不可逆，深层特征有语义却丢了边界。跳跃连接（concat 而非相加）把丢失的细节抄近道送回解码器，这是 U 形结构的核心。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4765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分割网络核心模块拆解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15500" y="323850"/>
            <a:ext cx="20955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0" y="38100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02 分割网络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653415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乳腺结节智能分割 · 教学课件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34150"/>
            <a:ext cx="1333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09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76300"/>
            <a:ext cx="3143250" cy="55054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1333500"/>
            <a:ext cx="238125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9FB6DE"/>
                </a:solidFill>
                <a:latin typeface="微软雅黑"/>
                <a:ea typeface="微软雅黑"/>
                <a:cs typeface="微软雅黑"/>
              </a:rPr>
              <a:t>02 分割网络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733550"/>
            <a:ext cx="24765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核心模块拆解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000" y="2686050"/>
            <a:ext cx="533400" cy="381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000" y="2857500"/>
            <a:ext cx="2381250" cy="1047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C9D7EE"/>
                </a:solidFill>
                <a:latin typeface="微软雅黑"/>
                <a:ea typeface="微软雅黑"/>
                <a:cs typeface="微软雅黑"/>
              </a:rPr>
              <a:t>五个积木，构成了本项目的两个网络。理解了它们，U-Net 与 U-Net++ 的结构差异就只剩"怎么连"。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000" y="4476750"/>
            <a:ext cx="2381250" cy="1428750"/>
          </a:xfrm>
          <a:prstGeom prst="roundRect">
            <a:avLst>
              <a:gd name="adj" fmla="val 10000"/>
            </a:avLst>
          </a:prstGeom>
          <a:solidFill>
            <a:srgbClr val="2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450" y="4629150"/>
            <a:ext cx="203835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提示：这些模块在两个网络中完全相同——本页内容可在两个网络之间直接迁移。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81400" y="990600"/>
            <a:ext cx="8229600" cy="10096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71900" y="1123950"/>
            <a:ext cx="1219200" cy="742950"/>
          </a:xfrm>
          <a:prstGeom prst="roundRect">
            <a:avLst>
              <a:gd name="adj" fmla="val 12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71900" y="1371600"/>
            <a:ext cx="12192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DoubleConv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2550" y="1085850"/>
            <a:ext cx="64198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Conv 3×3 + BN + ReLU 各两次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2550" y="1409700"/>
            <a:ext cx="641985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U-Net 的最小编码单元：两次 3×3 卷积把感受野叠到 5×5，BN 稳定训练，ReLU 引入非线性；每一级的通道数在这里确定（32→64→128→256→512）。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81400" y="2057400"/>
            <a:ext cx="8229600" cy="10096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771900" y="2190750"/>
            <a:ext cx="1219200" cy="742950"/>
          </a:xfrm>
          <a:prstGeom prst="roundRect">
            <a:avLst>
              <a:gd name="adj" fmla="val 12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71900" y="2438400"/>
            <a:ext cx="12192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MaxPool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2550" y="2152650"/>
            <a:ext cx="64198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2×2 最大池化下采样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2550" y="2476500"/>
            <a:ext cx="641985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分辨率减半、通道不变：计算量下降并获得平移不变性，代价是不可逆的细节丢失——这项损失由跳跃连接补偿。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81400" y="3124200"/>
            <a:ext cx="8229600" cy="10096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771900" y="3257550"/>
            <a:ext cx="1219200" cy="742950"/>
          </a:xfrm>
          <a:prstGeom prst="roundRect">
            <a:avLst>
              <a:gd name="adj" fmla="val 12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71900" y="3505200"/>
            <a:ext cx="12192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Up-Conv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2550" y="3219450"/>
            <a:ext cx="64198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转置卷积上采样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2550" y="3543300"/>
            <a:ext cx="641985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2×2 转置卷积把特征图分辨率翻倍（也可用双线性插值），其后紧跟 DoubleConv 平滑上采样带来的棋盘状伪影。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81400" y="4191000"/>
            <a:ext cx="8229600" cy="10096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771900" y="4324350"/>
            <a:ext cx="1219200" cy="742950"/>
          </a:xfrm>
          <a:prstGeom prst="roundRect">
            <a:avLst>
              <a:gd name="adj" fmla="val 12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71900" y="4572000"/>
            <a:ext cx="12192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2550" y="4286250"/>
            <a:ext cx="64198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跳跃连接 concat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2550" y="4610100"/>
            <a:ext cx="641985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把编码器同分辨率输出在通道维拼接（通道数翻倍）而非相加——保留完整浅层细节，让解码器按需取用。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81400" y="5257800"/>
            <a:ext cx="8229600" cy="100965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771900" y="5391150"/>
            <a:ext cx="1219200" cy="742950"/>
          </a:xfrm>
          <a:prstGeom prst="roundRect">
            <a:avLst>
              <a:gd name="adj" fmla="val 12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71900" y="5638800"/>
            <a:ext cx="12192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1×1 Conv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2550" y="5353050"/>
            <a:ext cx="64198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逐像素二分类器 + Sigmoid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62550" y="5676900"/>
            <a:ext cx="641985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用 1×1 卷积把 32 通道特征压成 1 通道 logits，Sigmoid 后得到每个像素属于病灶的概率，0.5 阈值二值化为 mask。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4765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U-Net 结构详解：编码-解码与跳跃连接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15500" y="323850"/>
            <a:ext cx="20955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0" y="38100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02 分割网络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653415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乳腺结节智能分割 · 教学课件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34150"/>
            <a:ext cx="1333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10 /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990600"/>
            <a:ext cx="6667500" cy="52768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1000" y="1143000"/>
            <a:ext cx="1619250" cy="609600"/>
          </a:xfrm>
          <a:prstGeom prst="roundRect">
            <a:avLst>
              <a:gd name="adj" fmla="val 12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12096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 256×256×3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1504950"/>
            <a:ext cx="161925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D5E1F5"/>
                </a:solidFill>
                <a:latin typeface="微软雅黑"/>
                <a:ea typeface="微软雅黑"/>
                <a:cs typeface="微软雅黑"/>
              </a:rPr>
              <a:t>Conv 3×3 ×2 → 32ch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123950" y="1771650"/>
            <a:ext cx="133350" cy="1524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33500" y="177165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MaxPool 2×2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1000" y="2019300"/>
            <a:ext cx="1619250" cy="609600"/>
          </a:xfrm>
          <a:prstGeom prst="roundRect">
            <a:avLst>
              <a:gd name="adj" fmla="val 12000"/>
            </a:avLst>
          </a:prstGeom>
          <a:solidFill>
            <a:srgbClr val="2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1000" y="20859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Conv ×2 → 64ch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2381250"/>
            <a:ext cx="161925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D5E1F5"/>
                </a:solidFill>
                <a:latin typeface="微软雅黑"/>
                <a:ea typeface="微软雅黑"/>
                <a:cs typeface="微软雅黑"/>
              </a:rPr>
              <a:t>128×128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123950" y="2647950"/>
            <a:ext cx="133350" cy="1524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1000" y="2857500"/>
            <a:ext cx="1619250" cy="609600"/>
          </a:xfrm>
          <a:prstGeom prst="roundRect">
            <a:avLst>
              <a:gd name="adj" fmla="val 12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000" y="29241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Conv ×2 → 128ch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000" y="3219450"/>
            <a:ext cx="161925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D5E1F5"/>
                </a:solidFill>
                <a:latin typeface="微软雅黑"/>
                <a:ea typeface="微软雅黑"/>
                <a:cs typeface="微软雅黑"/>
              </a:rPr>
              <a:t>64×64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123950" y="3486150"/>
            <a:ext cx="133350" cy="1524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1000" y="3695700"/>
            <a:ext cx="1619250" cy="609600"/>
          </a:xfrm>
          <a:prstGeom prst="roundRect">
            <a:avLst>
              <a:gd name="adj" fmla="val 12000"/>
            </a:avLst>
          </a:prstGeom>
          <a:solidFill>
            <a:srgbClr val="6C9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1000" y="3762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Conv ×2 → 256ch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" y="4057650"/>
            <a:ext cx="161925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D5E1F5"/>
                </a:solidFill>
                <a:latin typeface="微软雅黑"/>
                <a:ea typeface="微软雅黑"/>
                <a:cs typeface="微软雅黑"/>
              </a:rPr>
              <a:t>32×32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000250" y="4191000"/>
            <a:ext cx="523875" cy="533400"/>
          </a:xfrm>
          <a:prstGeom prst="line">
            <a:avLst/>
          </a:prstGeom>
          <a:ln w="25400">
            <a:solidFill>
              <a:srgbClr val="3D7B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524125" y="4686300"/>
            <a:ext cx="1619250" cy="609600"/>
          </a:xfrm>
          <a:prstGeom prst="roundRect">
            <a:avLst>
              <a:gd name="adj" fmla="val 12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24125" y="47529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瓶颈层 → 512ch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24125" y="5048250"/>
            <a:ext cx="161925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D5E1F5"/>
                </a:solidFill>
                <a:latin typeface="微软雅黑"/>
                <a:ea typeface="微软雅黑"/>
                <a:cs typeface="微软雅黑"/>
              </a:rPr>
              <a:t>16×16 语义最抽象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4143375" y="4191000"/>
            <a:ext cx="523875" cy="533400"/>
          </a:xfrm>
          <a:prstGeom prst="line">
            <a:avLst/>
          </a:prstGeom>
          <a:ln w="25400">
            <a:solidFill>
              <a:srgbClr val="3D7B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667250" y="3695700"/>
            <a:ext cx="1619250" cy="609600"/>
          </a:xfrm>
          <a:prstGeom prst="roundRect">
            <a:avLst>
              <a:gd name="adj" fmla="val 12000"/>
            </a:avLst>
          </a:prstGeom>
          <a:solidFill>
            <a:srgbClr val="6C9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7250" y="3762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上采样+Conv → 256ch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7250" y="4057650"/>
            <a:ext cx="161925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D5E1F5"/>
                </a:solidFill>
                <a:latin typeface="微软雅黑"/>
                <a:ea typeface="微软雅黑"/>
                <a:cs typeface="微软雅黑"/>
              </a:rPr>
              <a:t>转置卷积 2×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5410200" y="3486150"/>
            <a:ext cx="133350" cy="1524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667250" y="2857500"/>
            <a:ext cx="1619250" cy="609600"/>
          </a:xfrm>
          <a:prstGeom prst="roundRect">
            <a:avLst>
              <a:gd name="adj" fmla="val 12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7250" y="29241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上采样+Conv → 128ch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7250" y="3219450"/>
            <a:ext cx="161925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D5E1F5"/>
                </a:solidFill>
                <a:latin typeface="微软雅黑"/>
                <a:ea typeface="微软雅黑"/>
                <a:cs typeface="微软雅黑"/>
              </a:rPr>
              <a:t>64×64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5410200" y="2647950"/>
            <a:ext cx="133350" cy="1524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667250" y="2019300"/>
            <a:ext cx="1619250" cy="609600"/>
          </a:xfrm>
          <a:prstGeom prst="roundRect">
            <a:avLst>
              <a:gd name="adj" fmla="val 12000"/>
            </a:avLst>
          </a:prstGeom>
          <a:solidFill>
            <a:srgbClr val="2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7250" y="20859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上采样+Conv → 64ch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7250" y="2381250"/>
            <a:ext cx="161925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D5E1F5"/>
                </a:solidFill>
                <a:latin typeface="微软雅黑"/>
                <a:ea typeface="微软雅黑"/>
                <a:cs typeface="微软雅黑"/>
              </a:rPr>
              <a:t>128×128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5410200" y="1771650"/>
            <a:ext cx="133350" cy="1524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667250" y="1143000"/>
            <a:ext cx="1619250" cy="609600"/>
          </a:xfrm>
          <a:prstGeom prst="roundRect">
            <a:avLst>
              <a:gd name="adj" fmla="val 12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67250" y="12096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1×1 Conv → 1ch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7250" y="1504950"/>
            <a:ext cx="161925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D5E1F5"/>
                </a:solidFill>
                <a:latin typeface="微软雅黑"/>
                <a:ea typeface="微软雅黑"/>
                <a:cs typeface="微软雅黑"/>
              </a:rPr>
              <a:t>Sigmoid 概率图 256×256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019300" y="1447800"/>
            <a:ext cx="2628900" cy="0"/>
          </a:xfrm>
          <a:prstGeom prst="line">
            <a:avLst/>
          </a:prstGeom>
          <a:ln w="31750">
            <a:solidFill>
              <a:srgbClr val="D9534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019300" y="2324100"/>
            <a:ext cx="2628900" cy="0"/>
          </a:xfrm>
          <a:prstGeom prst="line">
            <a:avLst/>
          </a:prstGeom>
          <a:ln w="31750">
            <a:solidFill>
              <a:srgbClr val="D9534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019300" y="3200400"/>
            <a:ext cx="2628900" cy="0"/>
          </a:xfrm>
          <a:prstGeom prst="line">
            <a:avLst/>
          </a:prstGeom>
          <a:ln w="31750">
            <a:solidFill>
              <a:srgbClr val="D9534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019300" y="4000500"/>
            <a:ext cx="2628900" cy="0"/>
          </a:xfrm>
          <a:prstGeom prst="line">
            <a:avLst/>
          </a:prstGeom>
          <a:ln w="31750">
            <a:solidFill>
              <a:srgbClr val="D9534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038350" y="1181100"/>
            <a:ext cx="25908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Skip Connection：concat(浅层细节)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1500" y="5429250"/>
            <a:ext cx="6286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125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结构来源：Ronneberger et al., MICCAI 2015（本项目 base_channels=32，7.76M 参数）；红色虚线为跳跃连接，浅层细节被"抄近道"送入解码器。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77100" y="990600"/>
            <a:ext cx="4533900" cy="14287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05700" y="1123950"/>
            <a:ext cx="40957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① 编码器：看懂图像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05700" y="1447800"/>
            <a:ext cx="409575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每级 DoubleConv（Conv+BN+ReLU ×2）后 MaxPool 下采样，通道 32→512 逐级翻倍，空间细节换语义抽象。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277100" y="2533650"/>
            <a:ext cx="4533900" cy="14287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05700" y="2667000"/>
            <a:ext cx="40957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② 解码器：画回原尺寸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05700" y="2990850"/>
            <a:ext cx="409575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转置卷积逐级上采样恢复分辨率，通道对称减半，最后 1×1 卷积 + Sigmoid 输出逐像素概率图。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277100" y="4076700"/>
            <a:ext cx="4533900" cy="142875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05700" y="4210050"/>
            <a:ext cx="40957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③ 跳跃连接：本结构的灵魂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05700" y="4533900"/>
            <a:ext cx="409575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把编码器同分辨率的浅层特征 concat 进解码器——丢失的边缘细节被"抄近道"送回，分割边界因此更准。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77100" y="5753100"/>
            <a:ext cx="4533900" cy="514350"/>
          </a:xfrm>
          <a:prstGeom prst="roundRect">
            <a:avLst>
              <a:gd name="adj" fmla="val 1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05700" y="5867400"/>
            <a:ext cx="40957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为什么适合医学影像？结构对称、参数可调，数百例小数据集即可收敛——BUSI 780 例够用。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4765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U-Net++：嵌套密集跳跃连接与深度监督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15500" y="323850"/>
            <a:ext cx="20955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0" y="38100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02 分割网络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653415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乳腺结节智能分割 · 教学课件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34150"/>
            <a:ext cx="1333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11 /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990600"/>
            <a:ext cx="11430000" cy="28575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5750" y="1619250"/>
            <a:ext cx="1143000" cy="552450"/>
          </a:xfrm>
          <a:prstGeom prst="roundRect">
            <a:avLst>
              <a:gd name="adj" fmla="val 12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750" y="16954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X₀₀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50" y="194310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DCE6F5"/>
                </a:solidFill>
                <a:latin typeface="微软雅黑"/>
                <a:ea typeface="微软雅黑"/>
                <a:cs typeface="微软雅黑"/>
              </a:rPr>
              <a:t>编码器 32ch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57500" y="1619250"/>
            <a:ext cx="1143000" cy="552450"/>
          </a:xfrm>
          <a:prstGeom prst="roundRect">
            <a:avLst>
              <a:gd name="adj" fmla="val 12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57500" y="16954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X₀₁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7500" y="194310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DCE6F5"/>
                </a:solidFill>
                <a:latin typeface="微软雅黑"/>
                <a:ea typeface="微软雅黑"/>
                <a:cs typeface="微软雅黑"/>
              </a:rPr>
              <a:t>浅解码 · 输出1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29250" y="1619250"/>
            <a:ext cx="1143000" cy="552450"/>
          </a:xfrm>
          <a:prstGeom prst="roundRect">
            <a:avLst>
              <a:gd name="adj" fmla="val 12000"/>
            </a:avLst>
          </a:prstGeom>
          <a:solidFill>
            <a:srgbClr val="6C9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29250" y="16954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X₀₂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9250" y="194310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DCE6F5"/>
                </a:solidFill>
                <a:latin typeface="微软雅黑"/>
                <a:ea typeface="微软雅黑"/>
                <a:cs typeface="微软雅黑"/>
              </a:rPr>
              <a:t>中解码 · 输出2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619250"/>
            <a:ext cx="1143000" cy="552450"/>
          </a:xfrm>
          <a:prstGeom prst="roundRect">
            <a:avLst>
              <a:gd name="adj" fmla="val 12000"/>
            </a:avLst>
          </a:prstGeom>
          <a:solidFill>
            <a:srgbClr val="2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16954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X₀₃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194310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DCE6F5"/>
                </a:solidFill>
                <a:latin typeface="微软雅黑"/>
                <a:ea typeface="微软雅黑"/>
                <a:cs typeface="微软雅黑"/>
              </a:rPr>
              <a:t>深解码 · 输出3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06000" y="1619250"/>
            <a:ext cx="1143000" cy="552450"/>
          </a:xfrm>
          <a:prstGeom prst="roundRect">
            <a:avLst>
              <a:gd name="adj" fmla="val 12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06000" y="16954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X₀₄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6000" y="194310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DCE6F5"/>
                </a:solidFill>
                <a:latin typeface="微软雅黑"/>
                <a:ea typeface="微软雅黑"/>
                <a:cs typeface="微软雅黑"/>
              </a:rPr>
              <a:t>最深 · 推理输出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5750" y="2362200"/>
            <a:ext cx="1143000" cy="476250"/>
          </a:xfrm>
          <a:prstGeom prst="roundRect">
            <a:avLst>
              <a:gd name="adj" fmla="val 12000"/>
            </a:avLst>
          </a:prstGeom>
          <a:solidFill>
            <a:srgbClr val="6C9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5750" y="246697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X₁₀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57500" y="2362200"/>
            <a:ext cx="1143000" cy="476250"/>
          </a:xfrm>
          <a:prstGeom prst="roundRect">
            <a:avLst>
              <a:gd name="adj" fmla="val 12000"/>
            </a:avLst>
          </a:prstGeom>
          <a:solidFill>
            <a:srgbClr val="6C9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7500" y="246697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X₁₁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29250" y="2362200"/>
            <a:ext cx="1143000" cy="476250"/>
          </a:xfrm>
          <a:prstGeom prst="roundRect">
            <a:avLst>
              <a:gd name="adj" fmla="val 12000"/>
            </a:avLst>
          </a:prstGeom>
          <a:solidFill>
            <a:srgbClr val="6C9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29250" y="246697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X₂₀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428750" y="1790700"/>
            <a:ext cx="1428750" cy="20955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4000500" y="1790700"/>
            <a:ext cx="1428750" cy="20955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6572250" y="1790700"/>
            <a:ext cx="1428750" cy="20955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9144000" y="1790700"/>
            <a:ext cx="762000" cy="20955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1428750" y="2495550"/>
            <a:ext cx="1428750" cy="17145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4000500" y="2495550"/>
            <a:ext cx="1428750" cy="17145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857250" y="1219200"/>
            <a:ext cx="2571750" cy="361950"/>
          </a:xfrm>
          <a:prstGeom prst="line">
            <a:avLst/>
          </a:prstGeom>
          <a:ln w="31750">
            <a:solidFill>
              <a:srgbClr val="D9534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429000" y="1219200"/>
            <a:ext cx="2571750" cy="361950"/>
          </a:xfrm>
          <a:prstGeom prst="line">
            <a:avLst/>
          </a:prstGeom>
          <a:ln w="31750">
            <a:solidFill>
              <a:srgbClr val="D9534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000750" y="1219200"/>
            <a:ext cx="2571750" cy="361950"/>
          </a:xfrm>
          <a:prstGeom prst="line">
            <a:avLst/>
          </a:prstGeom>
          <a:ln w="31750">
            <a:solidFill>
              <a:srgbClr val="D9534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572500" y="1219200"/>
            <a:ext cx="1905000" cy="361950"/>
          </a:xfrm>
          <a:prstGeom prst="line">
            <a:avLst/>
          </a:prstGeom>
          <a:ln w="31750">
            <a:solidFill>
              <a:srgbClr val="D9534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62000" y="914400"/>
            <a:ext cx="9906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红色虚线：嵌套密集跳跃连接（同层拼接）——特征在编码与解码之间"逐级过渡"而非一步跨越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" y="3067050"/>
            <a:ext cx="11049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实线箭头：上采样流；每个 X₀ⱼ 都可接分割头（深度监督），推理时只用最深层 X₀₄。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1000" y="4038600"/>
            <a:ext cx="4953000" cy="22288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9600" y="4229100"/>
            <a:ext cx="44958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嵌套密集连接解决什么问题？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600" y="4610100"/>
            <a:ext cx="44958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U-Net 的跳跃连接直接把</a:t>
            </a:r>
            <a:r>
              <a:rPr sz="1500" b="1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深层语义</a:t>
            </a:r>
            <a:r>
              <a:rPr sz="15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1500" b="1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浅层细节</a:t>
            </a:r>
            <a:r>
              <a:rPr sz="15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拼接，两者之间存在语义鸿沟。U-Net++ 在编码-解码之间插入一系列嵌套的中间节点，让特征"逐级过渡"，语义差距更平滑（Zhou et al., DLMIA 2018）。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62600" y="4038600"/>
            <a:ext cx="3810000" cy="222885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91200" y="4229100"/>
            <a:ext cx="33528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深度监督（本项目已开启）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91200" y="4610100"/>
            <a:ext cx="33528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训练时对四个浅层输出</a:t>
            </a:r>
            <a:r>
              <a:rPr sz="15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分别计算损失取平均</a:t>
            </a:r>
            <a:r>
              <a:rPr sz="150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，为浅层提供直接梯度；推理时只用最深层，精度不降、参数不增。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01200" y="4038600"/>
            <a:ext cx="2209800" cy="2228850"/>
          </a:xfrm>
          <a:prstGeom prst="roundRect">
            <a:avLst>
              <a:gd name="adj" fmla="val 8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29800" y="4229100"/>
            <a:ext cx="180975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代价与收益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29800" y="4667250"/>
            <a:ext cx="100965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FC107"/>
                </a:solidFill>
                <a:latin typeface="微软雅黑"/>
                <a:ea typeface="微软雅黑"/>
                <a:cs typeface="微软雅黑"/>
              </a:rPr>
              <a:t>9.16M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29800" y="5029200"/>
            <a:ext cx="10096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9D7EE"/>
                </a:solidFill>
                <a:latin typeface="微软雅黑"/>
                <a:ea typeface="微软雅黑"/>
                <a:cs typeface="微软雅黑"/>
              </a:rPr>
              <a:t>U-Net++ 参数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77550" y="4667250"/>
            <a:ext cx="93345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7.76M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77550" y="5029200"/>
            <a:ext cx="9334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9D7EE"/>
                </a:solidFill>
                <a:latin typeface="微软雅黑"/>
                <a:ea typeface="微软雅黑"/>
                <a:cs typeface="微软雅黑"/>
              </a:rPr>
              <a:t>U-Net 参数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29800" y="5391150"/>
            <a:ext cx="180975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C9D7EE"/>
                </a:solidFill>
                <a:latin typeface="微软雅黑"/>
                <a:ea typeface="微软雅黑"/>
                <a:cs typeface="微软雅黑"/>
              </a:rPr>
              <a:t>参数多 18%，换取更平滑的特征过渡（实测对比见第 18 页）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4765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U-Net vs U-Net++：结构差异一览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15500" y="323850"/>
            <a:ext cx="20955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0" y="38100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02 分割网络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653415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乳腺结节智能分割 · 教学课件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34150"/>
            <a:ext cx="1333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12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76300"/>
            <a:ext cx="3143250" cy="55054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1333500"/>
            <a:ext cx="238125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9FB6DE"/>
                </a:solidFill>
                <a:latin typeface="微软雅黑"/>
                <a:ea typeface="微软雅黑"/>
                <a:cs typeface="微软雅黑"/>
              </a:rPr>
              <a:t>02 分割网络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695450"/>
            <a:ext cx="2714625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U-Net vs U-Net++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2495550"/>
            <a:ext cx="23812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9D7EE"/>
                </a:solidFill>
                <a:latin typeface="微软雅黑"/>
                <a:ea typeface="微软雅黑"/>
                <a:cs typeface="微软雅黑"/>
              </a:rPr>
              <a:t>两处改动：连接变密、监督变多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000" y="3028950"/>
            <a:ext cx="533400" cy="381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1000" y="3333750"/>
            <a:ext cx="2381250" cy="1333500"/>
          </a:xfrm>
          <a:prstGeom prst="roundRect">
            <a:avLst>
              <a:gd name="adj" fmla="val 10000"/>
            </a:avLst>
          </a:prstGeom>
          <a:solidFill>
            <a:srgbClr val="2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450" y="3486150"/>
            <a:ext cx="2038350" cy="1047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记住两句话：连接变密（同层互连），监督变多（浅层也管）。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4819650"/>
            <a:ext cx="2381250" cy="142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b="0" i="0">
                <a:solidFill>
                  <a:srgbClr val="C9D7EE"/>
                </a:solidFill>
                <a:latin typeface="微软雅黑"/>
                <a:ea typeface="微软雅黑"/>
                <a:cs typeface="微软雅黑"/>
              </a:rPr>
              <a:t>骨架、卷积单元、损失函数、训练配置全部相同——这正是"一个变量"的受控对比实验。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581400" y="1066800"/>
          <a:ext cx="82296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/>
                <a:gridCol w="3305175"/>
                <a:gridCol w="3305175"/>
              </a:tblGrid>
              <a:tr h="544285"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对比维度</a:t>
                      </a:r>
                    </a:p>
                  </a:txBody>
                  <a:tcPr marL="76200" marR="76200" marT="38100" marB="38100" anchor="ctr">
                    <a:solidFill>
                      <a:srgbClr val="1E4F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U-Net（2015）</a:t>
                      </a:r>
                    </a:p>
                  </a:txBody>
                  <a:tcPr marL="76200" marR="76200" marT="38100" marB="38100" anchor="ctr">
                    <a:solidFill>
                      <a:srgbClr val="1E4F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U-Net++（2018）</a:t>
                      </a:r>
                    </a:p>
                  </a:txBody>
                  <a:tcPr marL="76200" marR="76200" marT="38100" marB="38100" anchor="ctr">
                    <a:solidFill>
                      <a:srgbClr val="0E3F8C"/>
                    </a:solidFill>
                  </a:tcPr>
                </a:tc>
              </a:tr>
              <a:tr h="544285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跳跃连接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同级单层直连，共 4 条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嵌套密集连接，每个节点汇聚同层前驱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44285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监督方式</a:t>
                      </a:r>
                    </a:p>
                  </a:txBody>
                  <a:tcPr marL="76200" marR="762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仅最深层单点监督</a:t>
                      </a:r>
                    </a:p>
                  </a:txBody>
                  <a:tcPr marL="76200" marR="762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深度监督：4 个输出层各自算损失取平均</a:t>
                      </a:r>
                    </a:p>
                  </a:txBody>
                  <a:tcPr marL="76200" marR="76200" marT="38100" marB="38100" anchor="ctr">
                    <a:solidFill>
                      <a:srgbClr val="F7F9FC"/>
                    </a:solidFill>
                  </a:tcPr>
                </a:tc>
              </a:tr>
              <a:tr h="544285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参数量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7.76M（7,763,041）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9.16M（9,159,780，+18%）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44285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实测 Dice</a:t>
                      </a:r>
                    </a:p>
                  </a:txBody>
                  <a:tcPr marL="76200" marR="762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0.7382</a:t>
                      </a:r>
                    </a:p>
                  </a:txBody>
                  <a:tcPr marL="76200" marR="762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D953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0.7468</a:t>
                      </a:r>
                    </a:p>
                  </a:txBody>
                  <a:tcPr marL="76200" marR="76200" marT="38100" marB="38100" anchor="ctr">
                    <a:solidFill>
                      <a:srgbClr val="F7F9FC"/>
                    </a:solidFill>
                  </a:tcPr>
                </a:tc>
              </a:tr>
              <a:tr h="544285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推理开销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单路前向，最快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额外密集拼接，显存与耗时略增（推理只用最深层）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4429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适用场景</a:t>
                      </a:r>
                    </a:p>
                  </a:txBody>
                  <a:tcPr marL="76200" marR="762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基线首选、显存受限、快速迭代</a:t>
                      </a:r>
                    </a:p>
                  </a:txBody>
                  <a:tcPr marL="76200" marR="762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追求更高精度且可接受额外成本</a:t>
                      </a:r>
                    </a:p>
                  </a:txBody>
                  <a:tcPr marL="76200" marR="76200" marT="38100" marB="381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581400" y="5067300"/>
            <a:ext cx="8229600" cy="120015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0000" y="521970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5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小结：</a:t>
            </a:r>
            <a:r>
              <a:rPr sz="150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U-Net++ 没有改变 U-Net 的骨架，只是把"一步跨越的跳跃连接"改写成"逐级过渡的密集连接"，并给浅层加上直接监督。实测 Dice 0.738 → 0.747（+0.9 个点），代价是参数 +18%——典型的"用结构复杂度换精度"，是否值得取决于部署条件（见第 18 页）。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8650" y="285750"/>
            <a:ext cx="4762500" cy="323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5000" b="1" i="0">
                <a:solidFill>
                  <a:srgbClr val="DCE6F5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991100" y="2057400"/>
            <a:ext cx="95250" cy="4191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57800" y="2076450"/>
            <a:ext cx="62865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PART 03 · LOSS &amp;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2457450"/>
            <a:ext cx="64770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42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损失函数与评价指标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3200400"/>
            <a:ext cx="628650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病灶像素往往不到整张图的 5%：什么样的损失才能在极度不平衡中"盯住"病灶，又该用哪些指标衡量"画得像不像"——为什么 Accuracy 在分割任务里不可信。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4629150"/>
            <a:ext cx="1752600" cy="4000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4714875"/>
            <a:ext cx="17526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BCE 与 Dice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24700" y="4629150"/>
            <a:ext cx="1038225" cy="4000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4700" y="4714875"/>
            <a:ext cx="1038225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类别不平衡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7225" y="4629150"/>
            <a:ext cx="895350" cy="4000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7225" y="4714875"/>
            <a:ext cx="8953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混淆矩阵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6875" y="4629150"/>
            <a:ext cx="1752600" cy="4000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6875" y="4714875"/>
            <a:ext cx="17526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Dice / IoU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1000" y="653415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乳腺结节智能分割 · 教学课件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500" y="6534150"/>
            <a:ext cx="1333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4765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分割损失函数：BCE 与 Dice 的组合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15500" y="323850"/>
            <a:ext cx="20955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0" y="38100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03 损失与指标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653415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乳腺结节智能分割 · 教学课件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34150"/>
            <a:ext cx="1333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14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76300"/>
            <a:ext cx="3143250" cy="55054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1333500"/>
            <a:ext cx="238125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9FB6DE"/>
                </a:solidFill>
                <a:latin typeface="微软雅黑"/>
                <a:ea typeface="微软雅黑"/>
                <a:cs typeface="微软雅黑"/>
              </a:rPr>
              <a:t>03 损失与指标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695450"/>
            <a:ext cx="2381250" cy="142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分割损失函数：BCE 与 Dice 的组合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000" y="3409950"/>
            <a:ext cx="533400" cy="381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000" y="3619500"/>
            <a:ext cx="238125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C9D7EE"/>
                </a:solidFill>
                <a:latin typeface="微软雅黑"/>
                <a:ea typeface="微软雅黑"/>
                <a:cs typeface="微软雅黑"/>
              </a:rPr>
              <a:t>选择依据：病灶像素占比极小，逐像素损失会被背景"淹没"，必须引入对前景区域敏感的 Dice 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000" y="5143500"/>
            <a:ext cx="2381250" cy="1047750"/>
          </a:xfrm>
          <a:prstGeom prst="roundRect">
            <a:avLst>
              <a:gd name="adj" fmla="val 10000"/>
            </a:avLst>
          </a:prstGeom>
          <a:solidFill>
            <a:srgbClr val="2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450" y="5334000"/>
            <a:ext cx="203835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本项目默认：L = 0.5·L_BCE + 0.5·L_Dice，可经 --loss 参数切换。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81400" y="1066800"/>
            <a:ext cx="8229600" cy="12382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71900" y="1257300"/>
            <a:ext cx="1238250" cy="857250"/>
          </a:xfrm>
          <a:prstGeom prst="roundRect">
            <a:avLst>
              <a:gd name="adj" fmla="val 12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71900" y="1562100"/>
            <a:ext cx="12382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BCE</a:t>
            </a:r>
          </a:p>
        </p:txBody>
      </p:sp>
      <p:pic>
        <p:nvPicPr>
          <p:cNvPr id="21" name="Picture 20" descr="f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1257300"/>
            <a:ext cx="3619500" cy="52452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896350" y="1219200"/>
            <a:ext cx="2724150" cy="1009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逐像素二分类交叉熵。优化稳定、梯度平滑；但背景像素占 95%+ 时，损失被易分背景主导，病灶区域学不充分。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81400" y="2419350"/>
            <a:ext cx="8229600" cy="12382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771900" y="2609850"/>
            <a:ext cx="1238250" cy="857250"/>
          </a:xfrm>
          <a:prstGeom prst="roundRect">
            <a:avLst>
              <a:gd name="adj" fmla="val 12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71900" y="2914650"/>
            <a:ext cx="12382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Dice</a:t>
            </a:r>
          </a:p>
        </p:txBody>
      </p:sp>
      <p:pic>
        <p:nvPicPr>
          <p:cNvPr id="26" name="Picture 25" descr="f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0" y="2609850"/>
            <a:ext cx="3143250" cy="113859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896350" y="2571750"/>
            <a:ext cx="2724150" cy="1009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soft Dice（可微）。直接优化"预测与真值的重合度"，只关心前景区域规模，天然对类别不平衡鲁棒——代价是梯度不如 BCE 稳定。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81400" y="3771900"/>
            <a:ext cx="8229600" cy="123825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771900" y="3962400"/>
            <a:ext cx="1238250" cy="857250"/>
          </a:xfrm>
          <a:prstGeom prst="roundRect">
            <a:avLst>
              <a:gd name="adj" fmla="val 12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71900" y="4267200"/>
            <a:ext cx="12382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BCE+Dice</a:t>
            </a:r>
          </a:p>
        </p:txBody>
      </p:sp>
      <p:pic>
        <p:nvPicPr>
          <p:cNvPr id="31" name="Picture 30" descr="f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700" y="3962400"/>
            <a:ext cx="3619500" cy="26713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896350" y="3924300"/>
            <a:ext cx="2724150" cy="1009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0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两者取长补短 · 默认。BCE 提供逐像素的稳定梯度，Dice 提供区域级的重合度导向——医学分割最常用的组合之一。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81400" y="5124450"/>
            <a:ext cx="8229600" cy="12382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771900" y="5314950"/>
            <a:ext cx="1238250" cy="857250"/>
          </a:xfrm>
          <a:prstGeom prst="roundRect">
            <a:avLst>
              <a:gd name="adj" fmla="val 12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71900" y="5619750"/>
            <a:ext cx="12382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Focal</a:t>
            </a:r>
          </a:p>
        </p:txBody>
      </p:sp>
      <p:pic>
        <p:nvPicPr>
          <p:cNvPr id="36" name="Picture 35" descr="f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700" y="5314950"/>
            <a:ext cx="2857500" cy="36221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896350" y="5276850"/>
            <a:ext cx="2724150" cy="1009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γ 为聚焦参数（常取 2）。在 BCE 上乘调制因子，把权重集中到难分样本（如边界模糊的恶性病灶边缘）。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4765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评价指标：从混淆矩阵到 Dice 系数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15500" y="323850"/>
            <a:ext cx="20955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0" y="38100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03 损失与指标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653415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乳腺结节智能分割 · 教学课件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34150"/>
            <a:ext cx="1333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15 /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1047750"/>
            <a:ext cx="4095750" cy="38100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33500" y="1333500"/>
            <a:ext cx="800100" cy="800100"/>
          </a:xfrm>
          <a:prstGeom prst="roundRect">
            <a:avLst>
              <a:gd name="adj" fmla="val 1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3500" y="1504950"/>
            <a:ext cx="8001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1809750"/>
            <a:ext cx="8001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E5EAF2"/>
                </a:solidFill>
                <a:latin typeface="微软雅黑"/>
                <a:ea typeface="微软雅黑"/>
                <a:cs typeface="微软雅黑"/>
              </a:rPr>
              <a:t>正确找病灶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7900" y="1333500"/>
            <a:ext cx="800100" cy="800100"/>
          </a:xfrm>
          <a:prstGeom prst="roundRect">
            <a:avLst>
              <a:gd name="adj" fmla="val 10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47900" y="1504950"/>
            <a:ext cx="8001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7900" y="1809750"/>
            <a:ext cx="8001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E5EAF2"/>
                </a:solidFill>
                <a:latin typeface="微软雅黑"/>
                <a:ea typeface="微软雅黑"/>
                <a:cs typeface="微软雅黑"/>
              </a:rPr>
              <a:t>误报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3500" y="2247900"/>
            <a:ext cx="800100" cy="800100"/>
          </a:xfrm>
          <a:prstGeom prst="roundRect">
            <a:avLst>
              <a:gd name="adj" fmla="val 10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3500" y="2419350"/>
            <a:ext cx="8001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3500" y="2724150"/>
            <a:ext cx="8001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E5EAF2"/>
                </a:solidFill>
                <a:latin typeface="微软雅黑"/>
                <a:ea typeface="微软雅黑"/>
                <a:cs typeface="微软雅黑"/>
              </a:rPr>
              <a:t>漏诊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47900" y="2247900"/>
            <a:ext cx="800100" cy="800100"/>
          </a:xfrm>
          <a:prstGeom prst="roundRect">
            <a:avLst>
              <a:gd name="adj" fmla="val 10000"/>
            </a:avLst>
          </a:prstGeom>
          <a:solidFill>
            <a:srgbClr val="8B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7900" y="2419350"/>
            <a:ext cx="8001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7900" y="2724150"/>
            <a:ext cx="8001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E5EAF2"/>
                </a:solidFill>
                <a:latin typeface="微软雅黑"/>
                <a:ea typeface="微软雅黑"/>
                <a:cs typeface="微软雅黑"/>
              </a:rPr>
              <a:t>正确背景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7750" y="110490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预测=病灶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52650" y="110490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预测=背景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300" y="16573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真值=病灶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300" y="25717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真值=背景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4095750"/>
            <a:ext cx="37147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0000"/>
              </a:lnSpc>
            </a:pPr>
            <a:r>
              <a:rPr sz="135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像素级混淆矩阵：一切指标由此计算（本项目 src/metrics.py）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5029200"/>
            <a:ext cx="4095750" cy="123825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5200650"/>
            <a:ext cx="3638550" cy="933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5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反直觉的一点：</a:t>
            </a:r>
            <a:r>
              <a:rPr sz="150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一张 256×256 图，病灶仅占 3% 时——模型全输出"背景"，Accuracy 也有 97%，但它什么都没做对。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05350" y="1047750"/>
            <a:ext cx="7105650" cy="628650"/>
          </a:xfrm>
          <a:prstGeom prst="roundRect">
            <a:avLst>
              <a:gd name="adj" fmla="val 6000"/>
            </a:avLst>
          </a:prstGeom>
          <a:solidFill>
            <a:srgbClr val="0E3F8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14900" y="1238250"/>
            <a:ext cx="18097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C107"/>
                </a:solidFill>
                <a:latin typeface="微软雅黑"/>
                <a:ea typeface="微软雅黑"/>
                <a:cs typeface="微软雅黑"/>
              </a:rPr>
              <a:t>Dice（核心）</a:t>
            </a:r>
          </a:p>
        </p:txBody>
      </p:sp>
      <p:pic>
        <p:nvPicPr>
          <p:cNvPr id="33" name="Picture 32" descr="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43000"/>
            <a:ext cx="2095500" cy="35677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182100" y="1047750"/>
            <a:ext cx="2476500" cy="628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9D7EE"/>
                </a:solidFill>
                <a:latin typeface="微软雅黑"/>
                <a:ea typeface="微软雅黑"/>
                <a:cs typeface="微软雅黑"/>
              </a:rPr>
              <a:t>与真值的重合度，选最优权重按它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05350" y="1752600"/>
            <a:ext cx="7105650" cy="6286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14900" y="1943100"/>
            <a:ext cx="18097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IoU（交并比）</a:t>
            </a:r>
          </a:p>
        </p:txBody>
      </p:sp>
      <p:pic>
        <p:nvPicPr>
          <p:cNvPr id="37" name="Picture 36" descr="f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847850"/>
            <a:ext cx="2095500" cy="40475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182100" y="1752600"/>
            <a:ext cx="2476500" cy="628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交集 / 并集，比 Dice 更严格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5350" y="2457450"/>
            <a:ext cx="7105650" cy="6286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14900" y="2647950"/>
            <a:ext cx="18097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Precision 精确率</a:t>
            </a:r>
          </a:p>
        </p:txBody>
      </p:sp>
      <p:pic>
        <p:nvPicPr>
          <p:cNvPr id="41" name="Picture 40" descr="f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552700"/>
            <a:ext cx="2095500" cy="64665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182100" y="2457450"/>
            <a:ext cx="2476500" cy="628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报出来的病灶有多少是真的（误报代价）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05350" y="3162300"/>
            <a:ext cx="7105650" cy="6286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14900" y="3352800"/>
            <a:ext cx="18097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Recall 召回率</a:t>
            </a:r>
          </a:p>
        </p:txBody>
      </p:sp>
      <p:pic>
        <p:nvPicPr>
          <p:cNvPr id="45" name="Picture 44" descr="f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257550"/>
            <a:ext cx="2095500" cy="62234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182100" y="3162300"/>
            <a:ext cx="2476500" cy="628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真实病灶找到了多少（漏诊代价）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05350" y="3867150"/>
            <a:ext cx="7105650" cy="6286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4900" y="4057650"/>
            <a:ext cx="18097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Specificity 特异度</a:t>
            </a:r>
          </a:p>
        </p:txBody>
      </p:sp>
      <p:pic>
        <p:nvPicPr>
          <p:cNvPr id="49" name="Picture 48" descr="f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962400"/>
            <a:ext cx="2095500" cy="55738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182100" y="3867150"/>
            <a:ext cx="2476500" cy="628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背景被正确保留的比例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05350" y="4572000"/>
            <a:ext cx="7105650" cy="6286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4900" y="4762500"/>
            <a:ext cx="18097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Accuracy 准确率</a:t>
            </a:r>
          </a:p>
        </p:txBody>
      </p:sp>
      <p:pic>
        <p:nvPicPr>
          <p:cNvPr id="53" name="Picture 52" descr="f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4667250"/>
            <a:ext cx="2095500" cy="32207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182100" y="4572000"/>
            <a:ext cx="2476500" cy="628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全体像素正确率，仅作参考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05350" y="5314950"/>
            <a:ext cx="7105650" cy="95250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33950" y="5486400"/>
            <a:ext cx="66675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临床视角：筛查场景更怕</a:t>
            </a:r>
            <a:r>
              <a:rPr sz="15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漏诊</a:t>
            </a:r>
            <a:r>
              <a:rPr sz="150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（看 Recall），定量分析更怕</a:t>
            </a:r>
            <a:r>
              <a:rPr sz="15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误报</a:t>
            </a:r>
            <a:r>
              <a:rPr sz="150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（看 Precision）——Dice 是两者的综合体现。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8650" y="285750"/>
            <a:ext cx="4762500" cy="323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5000" b="1" i="0">
                <a:solidFill>
                  <a:srgbClr val="DCE6F5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991100" y="2057400"/>
            <a:ext cx="95250" cy="4191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57800" y="2076450"/>
            <a:ext cx="62865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PART 04 · RESULTS &amp; HANDS-ON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2457450"/>
            <a:ext cx="64770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42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实验与实操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3200400"/>
            <a:ext cx="628650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用真实训练结果检验结构改造是否值得：先看实验设置是否公平，再看 U-Net 与 U-Net++ 在测试集上的全面对比，最后是每组同学都要完成的动手任务。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4629150"/>
            <a:ext cx="895350" cy="4000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4714875"/>
            <a:ext cx="8953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实验设置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7450" y="4629150"/>
            <a:ext cx="895350" cy="4000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7450" y="4714875"/>
            <a:ext cx="8953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结果对比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7100" y="4629150"/>
            <a:ext cx="895350" cy="4000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77100" y="4714875"/>
            <a:ext cx="8953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训练曲线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6750" y="4629150"/>
            <a:ext cx="1038225" cy="4000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6750" y="4714875"/>
            <a:ext cx="1038225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预测可视化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9275" y="4629150"/>
            <a:ext cx="752475" cy="4000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39275" y="4714875"/>
            <a:ext cx="752475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任务书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000" y="653415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乳腺结节智能分割 · 教学课件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0" y="6534150"/>
            <a:ext cx="1333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4765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实验设置：如何做一次公平的网络对比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15500" y="323850"/>
            <a:ext cx="20955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0" y="38100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04 实验与实操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653415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乳腺结节智能分割 · 教学课件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34150"/>
            <a:ext cx="1333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17 /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1066800"/>
            <a:ext cx="7239000" cy="49911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9600" y="1257300"/>
          <a:ext cx="6781800" cy="461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5353050"/>
              </a:tblGrid>
              <a:tr h="512233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配置项</a:t>
                      </a:r>
                    </a:p>
                  </a:txBody>
                  <a:tcPr marL="76200" marR="76200" marT="25400" marB="25400" anchor="ctr">
                    <a:solidFill>
                      <a:srgbClr val="1E4F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本项目取值（两个网络完全相同）</a:t>
                      </a:r>
                    </a:p>
                  </a:txBody>
                  <a:tcPr marL="76200" marR="76200" marT="25400" marB="25400" anchor="ctr">
                    <a:solidFill>
                      <a:srgbClr val="0E3F8C"/>
                    </a:solidFill>
                  </a:tcPr>
                </a:tc>
              </a:tr>
              <a:tr h="512233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E3F8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数据集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BUSI 乳腺超声 780 例（良性 437 / 恶性 210 / 正常 133），良恶性带医师逐像素标注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12233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E3F8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数据划分</a:t>
                      </a:r>
                    </a:p>
                  </a:txBody>
                  <a:tcPr marL="76200" marR="76200" marT="25400" marB="254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按类别分层抽样 70% 训练 / 15% 验证 / 15% 测试，seed = 42，随机种子固定</a:t>
                      </a:r>
                    </a:p>
                  </a:txBody>
                  <a:tcPr marL="76200" marR="76200" marT="25400" marB="25400" anchor="ctr">
                    <a:solidFill>
                      <a:srgbClr val="F7F9FC"/>
                    </a:solidFill>
                  </a:tcPr>
                </a:tc>
              </a:tr>
              <a:tr h="512233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E3F8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图像预处理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 Resize 到 256×256，按 mean=std=0.5 归一化到 [-1, 1]；mask 最近邻插值后 0.5 阈值二值化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12233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E3F8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数据增强</a:t>
                      </a:r>
                    </a:p>
                  </a:txBody>
                  <a:tcPr marL="76200" marR="76200" marT="25400" marB="254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随机水平翻转、随机垂直翻转、随机 90° 倍数旋转（k∈{0,1,2,3}），图像与 mask 同步变换</a:t>
                      </a:r>
                    </a:p>
                  </a:txBody>
                  <a:tcPr marL="76200" marR="76200" marT="25400" marB="25400" anchor="ctr">
                    <a:solidFill>
                      <a:srgbClr val="F7F9FC"/>
                    </a:solidFill>
                  </a:tcPr>
                </a:tc>
              </a:tr>
              <a:tr h="512233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E3F8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网络容量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base_channels = 32（通道按级翻倍至 512），U-Net 7.76M / U-Net++ 9.16M 参数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12233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E3F8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损失函数</a:t>
                      </a:r>
                    </a:p>
                  </a:txBody>
                  <a:tcPr marL="76200" marR="76200" marT="25400" marB="254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BCE + Dice 各占 0.5；U-Net++ 额外开启深度监督（四个输出层各算损失取平均）</a:t>
                      </a:r>
                    </a:p>
                  </a:txBody>
                  <a:tcPr marL="76200" marR="76200" marT="25400" marB="25400" anchor="ctr">
                    <a:solidFill>
                      <a:srgbClr val="F7F9FC"/>
                    </a:solidFill>
                  </a:tcPr>
                </a:tc>
              </a:tr>
              <a:tr h="512233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E3F8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优化与训练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AdamW，lr = 1e-3，weight_decay = 1e-4，CosineAnnealingLR；100 epoch，batch = 8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12236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E3F8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评测口径</a:t>
                      </a:r>
                    </a:p>
                  </a:txBody>
                  <a:tcPr marL="76200" marR="76200" marT="25400" marB="254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取验证集 Dice 最优权重；测试集上按 0.5 阈值二值化，统一计算 Dice/IoU/Precision/Recall 等指标</a:t>
                      </a:r>
                    </a:p>
                  </a:txBody>
                  <a:tcPr marL="76200" marR="76200" marT="25400" marB="254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848600" y="1066800"/>
            <a:ext cx="3962400" cy="142875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7200" y="1238250"/>
            <a:ext cx="35052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原则一 · 同样的输入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7200" y="1600200"/>
            <a:ext cx="35052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同一份数据、同一种划分方式与同一个随机种子，同一套预处理与增强——保证两个网络"看到"的分布完全一致。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8600" y="2609850"/>
            <a:ext cx="3962400" cy="14287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7200" y="2781300"/>
            <a:ext cx="35052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原则二 · 同样的训练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7200" y="3143250"/>
            <a:ext cx="35052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优化器、学习率及其调度、epoch 数、batch 大小、损失函数完全相同，都取验证集 Dice 最优的那一份权重参与测试。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48600" y="4152900"/>
            <a:ext cx="3962400" cy="14287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7200" y="4324350"/>
            <a:ext cx="35052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原则三 · 同样的评测口径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7200" y="4686300"/>
            <a:ext cx="35052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同一测试集、同一 0.5 二值化阈值、同一套 MetricMeter 实现，指标不因评判方式不同而产生偏差。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48600" y="5753100"/>
            <a:ext cx="3962400" cy="304800"/>
          </a:xfrm>
          <a:prstGeom prst="roundRect">
            <a:avLst>
              <a:gd name="adj" fmla="val 8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8600" y="5810250"/>
            <a:ext cx="3962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唯一变量：网络结构（U-Net ↔ U-Net++）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4765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实验结果：两种网络究竟差多少？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15500" y="323850"/>
            <a:ext cx="20955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0" y="38100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04 实验与实操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653415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乳腺结节智能分割 · 教学课件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34150"/>
            <a:ext cx="1333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18 /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990600"/>
            <a:ext cx="7239000" cy="52768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43000"/>
            <a:ext cx="6858000" cy="411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410200"/>
            <a:ext cx="68580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BUSI 测试集（按类别分层 70/15/15 划分，seed=42）。两模型均训练 100 epoch，batch=8，lr=1e-3，损失 BCE+Dice，按验证集 Dice 保存最优权重（outputs/comparison/）。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8600" y="990600"/>
            <a:ext cx="1866900" cy="914400"/>
          </a:xfrm>
          <a:prstGeom prst="roundRect">
            <a:avLst>
              <a:gd name="adj" fmla="val 8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8600" y="1085850"/>
            <a:ext cx="18669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0.747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8600" y="1524000"/>
            <a:ext cx="18669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C9D7EE"/>
                </a:solidFill>
                <a:latin typeface="微软雅黑"/>
                <a:ea typeface="微软雅黑"/>
                <a:cs typeface="微软雅黑"/>
              </a:rPr>
              <a:t>U-Net++ Dice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44100" y="990600"/>
            <a:ext cx="1866900" cy="914400"/>
          </a:xfrm>
          <a:prstGeom prst="roundRect">
            <a:avLst>
              <a:gd name="adj" fmla="val 8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44100" y="1085850"/>
            <a:ext cx="18669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0.738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4100" y="1524000"/>
            <a:ext cx="18669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C9D7EE"/>
                </a:solidFill>
                <a:latin typeface="微软雅黑"/>
                <a:ea typeface="微软雅黑"/>
                <a:cs typeface="微软雅黑"/>
              </a:rPr>
              <a:t>U-Net Dice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848600" y="2057400"/>
          <a:ext cx="39624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1314450"/>
                <a:gridCol w="131445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anchor="ctr"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U-Net</a:t>
                      </a:r>
                    </a:p>
                  </a:txBody>
                  <a:tcPr anchor="ctr"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U-Net++</a:t>
                      </a:r>
                    </a:p>
                  </a:txBody>
                  <a:tcPr anchor="ctr">
                    <a:solidFill>
                      <a:srgbClr val="1E4FA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IoU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Precision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0.776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0.789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参数量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7.76M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D953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9.16M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验证集 Dice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848600" y="4267200"/>
            <a:ext cx="3962400" cy="20002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7200" y="4438650"/>
            <a:ext cx="35052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怎么解读这组数字？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7200" y="4762500"/>
            <a:ext cx="3505200" cy="142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U-Net++ 六项指标全部略优（验证集 Dice 0.781 vs 0.770），密集连接与深度监督有效；但提升约 1 个点、参数多 18%——</a:t>
            </a:r>
            <a:r>
              <a:rPr sz="1350" b="1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教学级小数据集上结构收益有限，公平比较须控制训练配置一致。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4765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训练过程与预测效果可视化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15500" y="323850"/>
            <a:ext cx="20955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0" y="38100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04 实验与实操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653415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乳腺结节智能分割 · 教学课件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34150"/>
            <a:ext cx="1333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19 /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990600"/>
            <a:ext cx="5334000" cy="52768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urve_unet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143000"/>
            <a:ext cx="4838700" cy="38671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5105400"/>
            <a:ext cx="5029200" cy="1047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13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U-Net++（深度监督）100 epoch 训练曲线：Loss 收敛平稳，Dice 爬升至约 0.78，验证曲线与训练曲线基本贴合（outputs/unetpp_20261010_204944/）。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990600"/>
            <a:ext cx="5867400" cy="22860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ample_tripty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00" y="1123950"/>
            <a:ext cx="5486400" cy="1695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34100" y="29146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① 输入原图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0" y="29146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② 医师 GT mask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0750" y="2914650"/>
            <a:ext cx="1809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③ 预测与 GT 叠加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390900"/>
            <a:ext cx="5867400" cy="18097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543300"/>
            <a:ext cx="54102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从曲线里读出三件事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867150"/>
            <a:ext cx="5410200" cy="1276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① 前期验证曲线剧烈震荡——小数据集 + 类别不平衡的典型现象，后期趋于平稳；</a:t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② 训练 / 验证曲线基本贴合，无过拟合剪刀差，100 epoch 轮数合适；</a:t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③ Specificity 恒近 1.0 而 Recall 起伏大——瓶颈在"漏诊"而非"误报"。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5314950"/>
            <a:ext cx="5867400" cy="95250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5486400"/>
            <a:ext cx="54102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观察任务（课堂互动）：</a:t>
            </a:r>
            <a:r>
              <a:rPr sz="140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恶性病例边界呈毛刺状、与腺体重叠，叠加图中预测轮廓在这些区域偏差最大——请思考：更强的边界损失？更高分辨率？还是更多数据？哪个最有针对性？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4765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课内实操任务书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15500" y="323850"/>
            <a:ext cx="20955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0" y="38100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04 实验与实操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653415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乳腺结节智能分割 · 教学课件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34150"/>
            <a:ext cx="1333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20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76300"/>
            <a:ext cx="3143250" cy="55054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1333500"/>
            <a:ext cx="238125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9FB6DE"/>
                </a:solidFill>
                <a:latin typeface="微软雅黑"/>
                <a:ea typeface="微软雅黑"/>
                <a:cs typeface="微软雅黑"/>
              </a:rPr>
              <a:t>04 实验与实操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733550"/>
            <a:ext cx="24765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课内实操任务书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000" y="2819400"/>
            <a:ext cx="533400" cy="381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000" y="3067050"/>
            <a:ext cx="238125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C9D7EE"/>
                </a:solidFill>
                <a:latin typeface="微软雅黑"/>
                <a:ea typeface="微软雅黑"/>
                <a:cs typeface="微软雅黑"/>
              </a:rPr>
              <a:t>2 人一组，约 60 分钟。所有命令在项目根目录 BUSI_seg/ 下执行，结果自动保存到 outputs/ 目录。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000" y="4572000"/>
            <a:ext cx="2381250" cy="1238250"/>
          </a:xfrm>
          <a:prstGeom prst="roundRect">
            <a:avLst>
              <a:gd name="adj" fmla="val 10000"/>
            </a:avLst>
          </a:prstGeom>
          <a:solidFill>
            <a:srgbClr val="2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450" y="4743450"/>
            <a:ext cx="203835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环境：Python 3.9+，pip install -r requirements.txt（CPU 可跑，GPU 更快）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81400" y="1028700"/>
            <a:ext cx="8229600" cy="11620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71900" y="1200150"/>
            <a:ext cx="438150" cy="4381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71900" y="1295400"/>
            <a:ext cx="4381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2450" y="11430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复现基线对比（20 分钟）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2450" y="1447800"/>
            <a:ext cx="7219950" cy="323850"/>
          </a:xfrm>
          <a:prstGeom prst="roundRect">
            <a:avLst>
              <a:gd name="adj" fmla="val 15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14850" y="1514475"/>
            <a:ext cx="704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C9D7EE"/>
                </a:solidFill>
                <a:latin typeface="微软雅黑"/>
                <a:ea typeface="微软雅黑"/>
                <a:cs typeface="微软雅黑"/>
              </a:rPr>
              <a:t>python -m src.train --model unet --epochs 30    /    --model unetpp --epochs 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2450" y="1828800"/>
            <a:ext cx="721995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两个网络共用同一份划分与同一套超参；记录各自 val Dice、参数量与耗时。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81400" y="2305050"/>
            <a:ext cx="8229600" cy="11620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771900" y="2476500"/>
            <a:ext cx="438150" cy="4381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71900" y="2571750"/>
            <a:ext cx="4381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2450" y="241935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结构消融：深度监督的贡献（15 分钟）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62450" y="2724150"/>
            <a:ext cx="7219950" cy="323850"/>
          </a:xfrm>
          <a:prstGeom prst="roundRect">
            <a:avLst>
              <a:gd name="adj" fmla="val 15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4850" y="2790825"/>
            <a:ext cx="704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C9D7EE"/>
                </a:solidFill>
                <a:latin typeface="微软雅黑"/>
                <a:ea typeface="微软雅黑"/>
                <a:cs typeface="微软雅黑"/>
              </a:rPr>
              <a:t>把 src/config.py 的 deep_supervision 改为 False 后重跑 unetpp 并对比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2450" y="3105150"/>
            <a:ext cx="721995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观察开关前后的 val Dice 与收敛速度，回答：提升更多来自密集连接，还是来自深度监督？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81400" y="3581400"/>
            <a:ext cx="8229600" cy="11620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771900" y="3752850"/>
            <a:ext cx="438150" cy="4381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71900" y="3848100"/>
            <a:ext cx="4381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2450" y="36957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损失与容量对照（15 分钟）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62450" y="4000500"/>
            <a:ext cx="7219950" cy="323850"/>
          </a:xfrm>
          <a:prstGeom prst="roundRect">
            <a:avLst>
              <a:gd name="adj" fmla="val 15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14850" y="4067175"/>
            <a:ext cx="704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C9D7EE"/>
                </a:solidFill>
                <a:latin typeface="微软雅黑"/>
                <a:ea typeface="微软雅黑"/>
                <a:cs typeface="微软雅黑"/>
              </a:rPr>
              <a:t>--loss bce / dice / focal（各一次）   --base-channels 16 vs 64（选一组）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2450" y="4381500"/>
            <a:ext cx="721995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在 U-Net 上做单点对照，验证"BCE+Dice 最稳"这一默认选择在 BUSI 上是否成立。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81400" y="4857750"/>
            <a:ext cx="8229600" cy="116205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771900" y="5029200"/>
            <a:ext cx="438150" cy="438150"/>
          </a:xfrm>
          <a:prstGeom prst="roundRect">
            <a:avLst>
              <a:gd name="adj" fmla="val 20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71900" y="5124450"/>
            <a:ext cx="4381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62450" y="497205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失败案例与分析（10 分钟）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62450" y="5276850"/>
            <a:ext cx="7219950" cy="323850"/>
          </a:xfrm>
          <a:prstGeom prst="roundRect">
            <a:avLst>
              <a:gd name="adj" fmla="val 15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14850" y="5343525"/>
            <a:ext cx="704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C9D7EE"/>
                </a:solidFill>
                <a:latin typeface="微软雅黑"/>
                <a:ea typeface="微软雅黑"/>
                <a:cs typeface="微软雅黑"/>
              </a:rPr>
              <a:t>python -m src.evaluate --checkpoint outputs/&lt;你的目录&gt;/best.pt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62450" y="5657850"/>
            <a:ext cx="721995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找出两个网络 Dice 都低的 2 张图，判断根因：边界模糊？病灶过小？还是标注本身就有争议？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581400" y="5905500"/>
            <a:ext cx="8229600" cy="419100"/>
          </a:xfrm>
          <a:prstGeom prst="roundRect">
            <a:avLst>
              <a:gd name="adj" fmla="val 3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33800" y="5962650"/>
            <a:ext cx="79629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验收：① 对比记录表（U-Net / U-Net++ 的 Dice、IoU、Recall、参数量、耗时）② 一句明确结论（推荐哪个网络 + 理由）③ 150 字失败案例分析。评分：对比完整性 40% + 结论有据 40% + 分析 20%。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914400"/>
            <a:ext cx="106680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9FB6DE"/>
                </a:solidFill>
                <a:latin typeface="微软雅黑"/>
                <a:ea typeface="微软雅黑"/>
                <a:cs typeface="微软雅黑"/>
              </a:rPr>
              <a:t>SUMMARY · 课程总结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333500"/>
            <a:ext cx="106680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同一个任务，两个网络：结构决定性能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3238500"/>
            <a:ext cx="3400425" cy="19050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" y="3352800"/>
            <a:ext cx="9525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790950"/>
            <a:ext cx="2943225" cy="628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5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U-Net：四十年未变的 U 形骨架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4438650"/>
            <a:ext cx="2943225" cy="628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编码-解码 + 跳跃连接；7.76M 参数，至今仍是医学分割最可靠的基线。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1025" y="3238500"/>
            <a:ext cx="3400425" cy="19050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9625" y="3352800"/>
            <a:ext cx="9525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790950"/>
            <a:ext cx="2943225" cy="628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5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U-Net++：连得更密、盯得更紧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4438650"/>
            <a:ext cx="2943225" cy="628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嵌套密集连接 + 深度监督；9.16M 参数（+18%）。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0050" y="3238500"/>
            <a:ext cx="3400425" cy="19050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8650" y="3352800"/>
            <a:ext cx="9525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8650" y="3790950"/>
            <a:ext cx="2943225" cy="628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5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实验：结构收益要配成本看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8650" y="4438650"/>
            <a:ext cx="2943225" cy="628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00" b="0" i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Dice 0.738 → 0.747（+0.9 个点）：提升真实但有限，取决于部署条件。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552450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课后思考：</a:t>
            </a:r>
            <a:r>
              <a:rPr sz="150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① 若把 U-Net++ 的中间输出全部用于 ensemble，推理成本会怎样变化？是否值得？  ② 深度监督为什么对小数据集更友好？  ③ 若你的数据集扩大到 10 倍，本课的结论会反转吗？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0" y="56007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24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谢谢！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000" y="653415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乳腺结节智能分割 · 教学课件 · 肖雄涛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77500" y="6534150"/>
            <a:ext cx="1333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